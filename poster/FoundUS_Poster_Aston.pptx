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0267275" cy="427942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653" y="-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046" y="7003597"/>
            <a:ext cx="25727184" cy="14898735"/>
          </a:xfrm>
        </p:spPr>
        <p:txBody>
          <a:bodyPr anchor="b"/>
          <a:lstStyle>
            <a:lvl1pPr algn="ctr">
              <a:defRPr sz="198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3410" y="22476884"/>
            <a:ext cx="22700456" cy="10332032"/>
          </a:xfrm>
        </p:spPr>
        <p:txBody>
          <a:bodyPr/>
          <a:lstStyle>
            <a:lvl1pPr marL="0" indent="0" algn="ctr">
              <a:buNone/>
              <a:defRPr sz="7944"/>
            </a:lvl1pPr>
            <a:lvl2pPr marL="1513378" indent="0" algn="ctr">
              <a:buNone/>
              <a:defRPr sz="6620"/>
            </a:lvl2pPr>
            <a:lvl3pPr marL="3026755" indent="0" algn="ctr">
              <a:buNone/>
              <a:defRPr sz="5958"/>
            </a:lvl3pPr>
            <a:lvl4pPr marL="4540133" indent="0" algn="ctr">
              <a:buNone/>
              <a:defRPr sz="5296"/>
            </a:lvl4pPr>
            <a:lvl5pPr marL="6053511" indent="0" algn="ctr">
              <a:buNone/>
              <a:defRPr sz="5296"/>
            </a:lvl5pPr>
            <a:lvl6pPr marL="7566889" indent="0" algn="ctr">
              <a:buNone/>
              <a:defRPr sz="5296"/>
            </a:lvl6pPr>
            <a:lvl7pPr marL="9080266" indent="0" algn="ctr">
              <a:buNone/>
              <a:defRPr sz="5296"/>
            </a:lvl7pPr>
            <a:lvl8pPr marL="10593644" indent="0" algn="ctr">
              <a:buNone/>
              <a:defRPr sz="5296"/>
            </a:lvl8pPr>
            <a:lvl9pPr marL="12107022" indent="0" algn="ctr">
              <a:buNone/>
              <a:defRPr sz="529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4156-896C-44A6-A578-734E182FDC4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F16-D9AD-4E59-9B6B-486447EC2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786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4156-896C-44A6-A578-734E182FDC4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F16-D9AD-4E59-9B6B-486447EC2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194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112" y="10668854"/>
            <a:ext cx="26105525" cy="17801211"/>
          </a:xfrm>
        </p:spPr>
        <p:txBody>
          <a:bodyPr anchor="b"/>
          <a:lstStyle>
            <a:lvl1pPr>
              <a:defRPr sz="198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112" y="28638472"/>
            <a:ext cx="26105525" cy="9361236"/>
          </a:xfrm>
        </p:spPr>
        <p:txBody>
          <a:bodyPr/>
          <a:lstStyle>
            <a:lvl1pPr marL="0" indent="0">
              <a:buNone/>
              <a:defRPr sz="7944">
                <a:solidFill>
                  <a:schemeClr val="tx1">
                    <a:tint val="82000"/>
                  </a:schemeClr>
                </a:solidFill>
              </a:defRPr>
            </a:lvl1pPr>
            <a:lvl2pPr marL="1513378" indent="0">
              <a:buNone/>
              <a:defRPr sz="6620">
                <a:solidFill>
                  <a:schemeClr val="tx1">
                    <a:tint val="82000"/>
                  </a:schemeClr>
                </a:solidFill>
              </a:defRPr>
            </a:lvl2pPr>
            <a:lvl3pPr marL="3026755" indent="0">
              <a:buNone/>
              <a:defRPr sz="5958">
                <a:solidFill>
                  <a:schemeClr val="tx1">
                    <a:tint val="82000"/>
                  </a:schemeClr>
                </a:solidFill>
              </a:defRPr>
            </a:lvl3pPr>
            <a:lvl4pPr marL="4540133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4pPr>
            <a:lvl5pPr marL="6053511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5pPr>
            <a:lvl6pPr marL="7566889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6pPr>
            <a:lvl7pPr marL="9080266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7pPr>
            <a:lvl8pPr marL="10593644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8pPr>
            <a:lvl9pPr marL="12107022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4156-896C-44A6-A578-734E182FDC4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F16-D9AD-4E59-9B6B-486447EC2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376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0875" y="11391985"/>
            <a:ext cx="12863592" cy="27152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2808" y="11391985"/>
            <a:ext cx="12863592" cy="27152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4156-896C-44A6-A578-734E182FDC4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F16-D9AD-4E59-9B6B-486447EC2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686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2278406"/>
            <a:ext cx="26105525" cy="82715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4821" y="10490535"/>
            <a:ext cx="12804474" cy="5141249"/>
          </a:xfrm>
        </p:spPr>
        <p:txBody>
          <a:bodyPr anchor="b"/>
          <a:lstStyle>
            <a:lvl1pPr marL="0" indent="0">
              <a:buNone/>
              <a:defRPr sz="7944" b="1"/>
            </a:lvl1pPr>
            <a:lvl2pPr marL="1513378" indent="0">
              <a:buNone/>
              <a:defRPr sz="6620" b="1"/>
            </a:lvl2pPr>
            <a:lvl3pPr marL="3026755" indent="0">
              <a:buNone/>
              <a:defRPr sz="5958" b="1"/>
            </a:lvl3pPr>
            <a:lvl4pPr marL="4540133" indent="0">
              <a:buNone/>
              <a:defRPr sz="5296" b="1"/>
            </a:lvl4pPr>
            <a:lvl5pPr marL="6053511" indent="0">
              <a:buNone/>
              <a:defRPr sz="5296" b="1"/>
            </a:lvl5pPr>
            <a:lvl6pPr marL="7566889" indent="0">
              <a:buNone/>
              <a:defRPr sz="5296" b="1"/>
            </a:lvl6pPr>
            <a:lvl7pPr marL="9080266" indent="0">
              <a:buNone/>
              <a:defRPr sz="5296" b="1"/>
            </a:lvl7pPr>
            <a:lvl8pPr marL="10593644" indent="0">
              <a:buNone/>
              <a:defRPr sz="5296" b="1"/>
            </a:lvl8pPr>
            <a:lvl9pPr marL="12107022" indent="0">
              <a:buNone/>
              <a:defRPr sz="52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4821" y="15631784"/>
            <a:ext cx="12804474" cy="2299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2810" y="10490535"/>
            <a:ext cx="12867534" cy="5141249"/>
          </a:xfrm>
        </p:spPr>
        <p:txBody>
          <a:bodyPr anchor="b"/>
          <a:lstStyle>
            <a:lvl1pPr marL="0" indent="0">
              <a:buNone/>
              <a:defRPr sz="7944" b="1"/>
            </a:lvl1pPr>
            <a:lvl2pPr marL="1513378" indent="0">
              <a:buNone/>
              <a:defRPr sz="6620" b="1"/>
            </a:lvl2pPr>
            <a:lvl3pPr marL="3026755" indent="0">
              <a:buNone/>
              <a:defRPr sz="5958" b="1"/>
            </a:lvl3pPr>
            <a:lvl4pPr marL="4540133" indent="0">
              <a:buNone/>
              <a:defRPr sz="5296" b="1"/>
            </a:lvl4pPr>
            <a:lvl5pPr marL="6053511" indent="0">
              <a:buNone/>
              <a:defRPr sz="5296" b="1"/>
            </a:lvl5pPr>
            <a:lvl6pPr marL="7566889" indent="0">
              <a:buNone/>
              <a:defRPr sz="5296" b="1"/>
            </a:lvl6pPr>
            <a:lvl7pPr marL="9080266" indent="0">
              <a:buNone/>
              <a:defRPr sz="5296" b="1"/>
            </a:lvl7pPr>
            <a:lvl8pPr marL="10593644" indent="0">
              <a:buNone/>
              <a:defRPr sz="5296" b="1"/>
            </a:lvl8pPr>
            <a:lvl9pPr marL="12107022" indent="0">
              <a:buNone/>
              <a:defRPr sz="52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2810" y="15631784"/>
            <a:ext cx="12867534" cy="2299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4156-896C-44A6-A578-734E182FDC4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F16-D9AD-4E59-9B6B-486447EC2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017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4156-896C-44A6-A578-734E182FDC4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F16-D9AD-4E59-9B6B-486447EC2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721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4156-896C-44A6-A578-734E182FDC4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F16-D9AD-4E59-9B6B-486447EC2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266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2852949"/>
            <a:ext cx="9761984" cy="9985322"/>
          </a:xfrm>
        </p:spPr>
        <p:txBody>
          <a:bodyPr anchor="b"/>
          <a:lstStyle>
            <a:lvl1pPr>
              <a:defRPr sz="105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67534" y="6161587"/>
            <a:ext cx="15322808" cy="30411646"/>
          </a:xfrm>
        </p:spPr>
        <p:txBody>
          <a:bodyPr/>
          <a:lstStyle>
            <a:lvl1pPr>
              <a:defRPr sz="10592"/>
            </a:lvl1pPr>
            <a:lvl2pPr>
              <a:defRPr sz="9268"/>
            </a:lvl2pPr>
            <a:lvl3pPr>
              <a:defRPr sz="7944"/>
            </a:lvl3pPr>
            <a:lvl4pPr>
              <a:defRPr sz="6620"/>
            </a:lvl4pPr>
            <a:lvl5pPr>
              <a:defRPr sz="6620"/>
            </a:lvl5pPr>
            <a:lvl6pPr>
              <a:defRPr sz="6620"/>
            </a:lvl6pPr>
            <a:lvl7pPr>
              <a:defRPr sz="6620"/>
            </a:lvl7pPr>
            <a:lvl8pPr>
              <a:defRPr sz="6620"/>
            </a:lvl8pPr>
            <a:lvl9pPr>
              <a:defRPr sz="66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4817" y="12838271"/>
            <a:ext cx="9761984" cy="23784486"/>
          </a:xfrm>
        </p:spPr>
        <p:txBody>
          <a:bodyPr/>
          <a:lstStyle>
            <a:lvl1pPr marL="0" indent="0">
              <a:buNone/>
              <a:defRPr sz="5296"/>
            </a:lvl1pPr>
            <a:lvl2pPr marL="1513378" indent="0">
              <a:buNone/>
              <a:defRPr sz="4634"/>
            </a:lvl2pPr>
            <a:lvl3pPr marL="3026755" indent="0">
              <a:buNone/>
              <a:defRPr sz="3972"/>
            </a:lvl3pPr>
            <a:lvl4pPr marL="4540133" indent="0">
              <a:buNone/>
              <a:defRPr sz="3310"/>
            </a:lvl4pPr>
            <a:lvl5pPr marL="6053511" indent="0">
              <a:buNone/>
              <a:defRPr sz="3310"/>
            </a:lvl5pPr>
            <a:lvl6pPr marL="7566889" indent="0">
              <a:buNone/>
              <a:defRPr sz="3310"/>
            </a:lvl6pPr>
            <a:lvl7pPr marL="9080266" indent="0">
              <a:buNone/>
              <a:defRPr sz="3310"/>
            </a:lvl7pPr>
            <a:lvl8pPr marL="10593644" indent="0">
              <a:buNone/>
              <a:defRPr sz="3310"/>
            </a:lvl8pPr>
            <a:lvl9pPr marL="12107022" indent="0">
              <a:buNone/>
              <a:defRPr sz="33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4156-896C-44A6-A578-734E182FDC4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F16-D9AD-4E59-9B6B-486447EC2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257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2852949"/>
            <a:ext cx="9761984" cy="9985322"/>
          </a:xfrm>
        </p:spPr>
        <p:txBody>
          <a:bodyPr anchor="b"/>
          <a:lstStyle>
            <a:lvl1pPr>
              <a:defRPr sz="105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67534" y="6161587"/>
            <a:ext cx="15322808" cy="30411646"/>
          </a:xfrm>
        </p:spPr>
        <p:txBody>
          <a:bodyPr anchor="t"/>
          <a:lstStyle>
            <a:lvl1pPr marL="0" indent="0">
              <a:buNone/>
              <a:defRPr sz="10592"/>
            </a:lvl1pPr>
            <a:lvl2pPr marL="1513378" indent="0">
              <a:buNone/>
              <a:defRPr sz="9268"/>
            </a:lvl2pPr>
            <a:lvl3pPr marL="3026755" indent="0">
              <a:buNone/>
              <a:defRPr sz="7944"/>
            </a:lvl3pPr>
            <a:lvl4pPr marL="4540133" indent="0">
              <a:buNone/>
              <a:defRPr sz="6620"/>
            </a:lvl4pPr>
            <a:lvl5pPr marL="6053511" indent="0">
              <a:buNone/>
              <a:defRPr sz="6620"/>
            </a:lvl5pPr>
            <a:lvl6pPr marL="7566889" indent="0">
              <a:buNone/>
              <a:defRPr sz="6620"/>
            </a:lvl6pPr>
            <a:lvl7pPr marL="9080266" indent="0">
              <a:buNone/>
              <a:defRPr sz="6620"/>
            </a:lvl7pPr>
            <a:lvl8pPr marL="10593644" indent="0">
              <a:buNone/>
              <a:defRPr sz="6620"/>
            </a:lvl8pPr>
            <a:lvl9pPr marL="12107022" indent="0">
              <a:buNone/>
              <a:defRPr sz="66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4817" y="12838271"/>
            <a:ext cx="9761984" cy="23784486"/>
          </a:xfrm>
        </p:spPr>
        <p:txBody>
          <a:bodyPr/>
          <a:lstStyle>
            <a:lvl1pPr marL="0" indent="0">
              <a:buNone/>
              <a:defRPr sz="5296"/>
            </a:lvl1pPr>
            <a:lvl2pPr marL="1513378" indent="0">
              <a:buNone/>
              <a:defRPr sz="4634"/>
            </a:lvl2pPr>
            <a:lvl3pPr marL="3026755" indent="0">
              <a:buNone/>
              <a:defRPr sz="3972"/>
            </a:lvl3pPr>
            <a:lvl4pPr marL="4540133" indent="0">
              <a:buNone/>
              <a:defRPr sz="3310"/>
            </a:lvl4pPr>
            <a:lvl5pPr marL="6053511" indent="0">
              <a:buNone/>
              <a:defRPr sz="3310"/>
            </a:lvl5pPr>
            <a:lvl6pPr marL="7566889" indent="0">
              <a:buNone/>
              <a:defRPr sz="3310"/>
            </a:lvl6pPr>
            <a:lvl7pPr marL="9080266" indent="0">
              <a:buNone/>
              <a:defRPr sz="3310"/>
            </a:lvl7pPr>
            <a:lvl8pPr marL="10593644" indent="0">
              <a:buNone/>
              <a:defRPr sz="3310"/>
            </a:lvl8pPr>
            <a:lvl9pPr marL="12107022" indent="0">
              <a:buNone/>
              <a:defRPr sz="33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4156-896C-44A6-A578-734E182FDC4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F16-D9AD-4E59-9B6B-486447EC2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651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4156-896C-44A6-A578-734E182FDC4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F16-D9AD-4E59-9B6B-486447EC2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517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0020" y="2278397"/>
            <a:ext cx="6526381" cy="362661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0877" y="2278397"/>
            <a:ext cx="19200803" cy="362661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4156-896C-44A6-A578-734E182FDC4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F16-D9AD-4E59-9B6B-486447EC2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587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0875" y="2278406"/>
            <a:ext cx="26105525" cy="82715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0875" y="11391985"/>
            <a:ext cx="26105525" cy="27152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434156-896C-44A6-A578-734E182FDC4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6D6F16-D9AD-4E59-9B6B-486447EC2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601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6755" rtl="0" eaLnBrk="1" latinLnBrk="0" hangingPunct="1">
        <a:lnSpc>
          <a:spcPct val="90000"/>
        </a:lnSpc>
        <a:spcBef>
          <a:spcPct val="0"/>
        </a:spcBef>
        <a:buNone/>
        <a:defRPr sz="145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689" indent="-756689" algn="l" defTabSz="3026755" rtl="0" eaLnBrk="1" latinLnBrk="0" hangingPunct="1">
        <a:lnSpc>
          <a:spcPct val="90000"/>
        </a:lnSpc>
        <a:spcBef>
          <a:spcPts val="3310"/>
        </a:spcBef>
        <a:buFont typeface="Arial" panose="020B0604020202020204" pitchFamily="34" charset="0"/>
        <a:buChar char="•"/>
        <a:defRPr sz="9268" kern="1200">
          <a:solidFill>
            <a:schemeClr val="tx1"/>
          </a:solidFill>
          <a:latin typeface="+mn-lt"/>
          <a:ea typeface="+mn-ea"/>
          <a:cs typeface="+mn-cs"/>
        </a:defRPr>
      </a:lvl1pPr>
      <a:lvl2pPr marL="2270067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4" kern="1200">
          <a:solidFill>
            <a:schemeClr val="tx1"/>
          </a:solidFill>
          <a:latin typeface="+mn-lt"/>
          <a:ea typeface="+mn-ea"/>
          <a:cs typeface="+mn-cs"/>
        </a:defRPr>
      </a:lvl2pPr>
      <a:lvl3pPr marL="3783444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0" kern="1200">
          <a:solidFill>
            <a:schemeClr val="tx1"/>
          </a:solidFill>
          <a:latin typeface="+mn-lt"/>
          <a:ea typeface="+mn-ea"/>
          <a:cs typeface="+mn-cs"/>
        </a:defRPr>
      </a:lvl3pPr>
      <a:lvl4pPr marL="5296822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4pPr>
      <a:lvl5pPr marL="6810200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5pPr>
      <a:lvl6pPr marL="8323577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6pPr>
      <a:lvl7pPr marL="9836955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7pPr>
      <a:lvl8pPr marL="11350333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8pPr>
      <a:lvl9pPr marL="12863711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1pPr>
      <a:lvl2pPr marL="1513378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2pPr>
      <a:lvl3pPr marL="3026755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3pPr>
      <a:lvl4pPr marL="4540133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4pPr>
      <a:lvl5pPr marL="6053511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5pPr>
      <a:lvl6pPr marL="7566889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6pPr>
      <a:lvl7pPr marL="9080266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7pPr>
      <a:lvl8pPr marL="10593644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8pPr>
      <a:lvl9pPr marL="12107022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AFBCE5-7819-583A-703C-34EC7D73AC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2"/>
            <a:ext cx="30267275" cy="42791034"/>
          </a:xfrm>
          <a:prstGeom prst="rect">
            <a:avLst/>
          </a:prstGeom>
        </p:spPr>
      </p:pic>
      <p:pic>
        <p:nvPicPr>
          <p:cNvPr id="6" name="Picture 5" descr="asto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99" y="5535840"/>
            <a:ext cx="6908511" cy="5408160"/>
          </a:xfrm>
          <a:prstGeom prst="rect">
            <a:avLst/>
          </a:prstGeom>
        </p:spPr>
      </p:pic>
      <p:pic>
        <p:nvPicPr>
          <p:cNvPr id="7" name="Picture 6" descr="mwm_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69200" y="6624000"/>
            <a:ext cx="2520000" cy="288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75040" y="7201095"/>
            <a:ext cx="14093520" cy="1365809"/>
          </a:xfrm>
          <a:prstGeom prst="rect">
            <a:avLst/>
          </a:prstGeom>
          <a:noFill/>
        </p:spPr>
        <p:txBody>
          <a:bodyPr wrap="square" lIns="108000" tIns="54000" rIns="108000" bIns="540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 i="0" dirty="0">
                <a:solidFill>
                  <a:srgbClr val="0A3D62"/>
                </a:solidFill>
                <a:latin typeface="Arial"/>
              </a:rPr>
              <a:t>Encoder Capacity Is the Binding Constraint in</a:t>
            </a:r>
          </a:p>
          <a:p>
            <a:pPr algn="l">
              <a:spcAft>
                <a:spcPts val="200"/>
              </a:spcAft>
            </a:pPr>
            <a:r>
              <a:rPr sz="4000" b="1" i="0" dirty="0">
                <a:solidFill>
                  <a:srgbClr val="0A3D62"/>
                </a:solidFill>
                <a:latin typeface="Arial"/>
              </a:rPr>
              <a:t>Unified Multi-Task Ultrasound Landmark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2160" y="9288000"/>
            <a:ext cx="20160000" cy="601497"/>
          </a:xfrm>
          <a:prstGeom prst="rect">
            <a:avLst/>
          </a:prstGeom>
          <a:noFill/>
        </p:spPr>
        <p:txBody>
          <a:bodyPr wrap="square" lIns="108000" tIns="54000" rIns="108000" bIns="5400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 i="0" dirty="0">
                <a:solidFill>
                  <a:srgbClr val="00ACC1"/>
                </a:solidFill>
                <a:latin typeface="Arial"/>
              </a:rPr>
              <a:t>FoundUS 2026   ·   Foundation Model for Ultrasound Biometry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80000" y="9936000"/>
            <a:ext cx="28116000" cy="936000"/>
          </a:xfrm>
          <a:prstGeom prst="roundRect">
            <a:avLst/>
          </a:prstGeom>
          <a:solidFill>
            <a:srgbClr val="0A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80000" y="9936000"/>
            <a:ext cx="28116000" cy="936000"/>
          </a:xfrm>
          <a:prstGeom prst="rect">
            <a:avLst/>
          </a:prstGeom>
          <a:noFill/>
        </p:spPr>
        <p:txBody>
          <a:bodyPr wrap="square" lIns="108000" tIns="54000" rIns="108000" bIns="5400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Saeed Moosivand   ·   Ziyang Wang       |       Aston University, Birmingham, UK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0000" y="11160000"/>
            <a:ext cx="9084000" cy="612000"/>
          </a:xfrm>
          <a:prstGeom prst="roundRect">
            <a:avLst/>
          </a:prstGeom>
          <a:solidFill>
            <a:srgbClr val="0A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24000" y="11142000"/>
            <a:ext cx="8796000" cy="612000"/>
          </a:xfrm>
          <a:prstGeom prst="rect">
            <a:avLst/>
          </a:prstGeom>
          <a:noFill/>
        </p:spPr>
        <p:txBody>
          <a:bodyPr wrap="square" lIns="108000" tIns="54000" rIns="108000" bIns="5400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 dirty="0">
                <a:solidFill>
                  <a:srgbClr val="FFFFFF"/>
                </a:solidFill>
                <a:latin typeface="Arial"/>
              </a:rPr>
              <a:t>1.  Clinical Motivation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000" y="11916000"/>
            <a:ext cx="9084000" cy="2160000"/>
          </a:xfrm>
          <a:prstGeom prst="rect">
            <a:avLst/>
          </a:prstGeom>
          <a:noFill/>
        </p:spPr>
        <p:txBody>
          <a:bodyPr wrap="square" lIns="108000" tIns="54000" rIns="108000" bIns="540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 dirty="0">
                <a:solidFill>
                  <a:srgbClr val="37474F"/>
                </a:solidFill>
                <a:latin typeface="Arial"/>
              </a:rPr>
              <a:t>Ultrasound biometry underpins diagnosis across fetal, cardiac and vascular care. Manual landmark measurement is slow and operator-dependent.</a:t>
            </a:r>
          </a:p>
          <a:p>
            <a:pPr algn="l">
              <a:spcAft>
                <a:spcPts val="600"/>
              </a:spcAft>
            </a:pPr>
            <a:r>
              <a:rPr sz="1800" b="0" i="0" dirty="0">
                <a:solidFill>
                  <a:srgbClr val="37474F"/>
                </a:solidFill>
                <a:latin typeface="Arial"/>
              </a:rPr>
              <a:t>A unified model across all nine tasks would simplify deployment, but what limits accuracy: loss, resolution, or encoder capacity?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0000" y="14220000"/>
            <a:ext cx="9084000" cy="1008000"/>
          </a:xfrm>
          <a:prstGeom prst="roundRect">
            <a:avLst/>
          </a:prstGeom>
          <a:solidFill>
            <a:srgbClr val="E3F2F6"/>
          </a:solidFill>
          <a:ln w="19050">
            <a:solidFill>
              <a:srgbClr val="00AC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000" y="14220000"/>
            <a:ext cx="8868000" cy="1008000"/>
          </a:xfrm>
          <a:prstGeom prst="rect">
            <a:avLst/>
          </a:prstGeom>
          <a:noFill/>
        </p:spPr>
        <p:txBody>
          <a:bodyPr wrap="square" lIns="108000" tIns="54000" rIns="108000" bIns="540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 i="0" dirty="0">
                <a:solidFill>
                  <a:srgbClr val="0A3D62"/>
                </a:solidFill>
                <a:latin typeface="Arial"/>
              </a:rPr>
              <a:t>Aim:  </a:t>
            </a:r>
            <a:r>
              <a:rPr sz="1800" b="0" i="0" dirty="0">
                <a:solidFill>
                  <a:srgbClr val="37474F"/>
                </a:solidFill>
                <a:latin typeface="Arial"/>
              </a:rPr>
              <a:t>identify the binding constraint via a controlled ablation.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0000" y="15516000"/>
            <a:ext cx="9084000" cy="612000"/>
          </a:xfrm>
          <a:prstGeom prst="roundRect">
            <a:avLst/>
          </a:prstGeom>
          <a:solidFill>
            <a:srgbClr val="0A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24000" y="15498000"/>
            <a:ext cx="8796000" cy="612000"/>
          </a:xfrm>
          <a:prstGeom prst="rect">
            <a:avLst/>
          </a:prstGeom>
          <a:noFill/>
        </p:spPr>
        <p:txBody>
          <a:bodyPr wrap="square" lIns="108000" tIns="54000" rIns="108000" bIns="5400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 dirty="0">
                <a:solidFill>
                  <a:srgbClr val="FFFFFF"/>
                </a:solidFill>
                <a:latin typeface="Arial"/>
              </a:rPr>
              <a:t>2.  Dataset &amp;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0000" y="16272000"/>
            <a:ext cx="9084000" cy="1584000"/>
          </a:xfrm>
          <a:prstGeom prst="rect">
            <a:avLst/>
          </a:prstGeom>
          <a:noFill/>
        </p:spPr>
        <p:txBody>
          <a:bodyPr wrap="square" lIns="108000" tIns="54000" rIns="108000" bIns="540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 dirty="0">
                <a:solidFill>
                  <a:srgbClr val="37474F"/>
                </a:solidFill>
                <a:latin typeface="Arial"/>
              </a:rPr>
              <a:t>Official FoundUS 2026 benchmark: nine ultrasound biometry tasks, 200K+ images (prenatal, intrapartum, cardiac, vascular).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80000" y="17928000"/>
            <a:ext cx="9084000" cy="86400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CF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88000" y="17928000"/>
            <a:ext cx="1944000" cy="864000"/>
          </a:xfrm>
          <a:prstGeom prst="rect">
            <a:avLst/>
          </a:prstGeom>
          <a:noFill/>
        </p:spPr>
        <p:txBody>
          <a:bodyPr wrap="square" lIns="108000" tIns="54000" rIns="108000" bIns="5400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 dirty="0">
                <a:solidFill>
                  <a:srgbClr val="1565C0"/>
                </a:solidFill>
                <a:latin typeface="Arial"/>
              </a:rPr>
              <a:t>Split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6000" y="17928000"/>
            <a:ext cx="6960000" cy="864000"/>
          </a:xfrm>
          <a:prstGeom prst="rect">
            <a:avLst/>
          </a:prstGeom>
          <a:noFill/>
        </p:spPr>
        <p:txBody>
          <a:bodyPr wrap="square" lIns="108000" tIns="54000" rIns="108000" bIns="5400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 dirty="0">
                <a:solidFill>
                  <a:srgbClr val="37474F"/>
                </a:solidFill>
                <a:latin typeface="Arial"/>
              </a:rPr>
              <a:t>per-task stratified 80/20 (seed 42)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80000" y="18900000"/>
            <a:ext cx="9084000" cy="86400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CF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88000" y="18900000"/>
            <a:ext cx="1944000" cy="864000"/>
          </a:xfrm>
          <a:prstGeom prst="rect">
            <a:avLst/>
          </a:prstGeom>
          <a:noFill/>
        </p:spPr>
        <p:txBody>
          <a:bodyPr wrap="square" lIns="108000" tIns="54000" rIns="108000" bIns="5400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565C0"/>
                </a:solidFill>
                <a:latin typeface="Arial"/>
              </a:rPr>
              <a:t>Metric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6000" y="18900000"/>
            <a:ext cx="6960000" cy="864000"/>
          </a:xfrm>
          <a:prstGeom prst="rect">
            <a:avLst/>
          </a:prstGeom>
          <a:noFill/>
        </p:spPr>
        <p:txBody>
          <a:bodyPr wrap="square" lIns="108000" tIns="54000" rIns="108000" bIns="5400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 dirty="0">
                <a:solidFill>
                  <a:srgbClr val="37474F"/>
                </a:solidFill>
                <a:latin typeface="Arial"/>
              </a:rPr>
              <a:t>Mean Radial Error (MRE), </a:t>
            </a:r>
            <a:r>
              <a:rPr sz="1600" b="0" i="0" dirty="0" err="1">
                <a:solidFill>
                  <a:srgbClr val="37474F"/>
                </a:solidFill>
                <a:latin typeface="Arial"/>
              </a:rPr>
              <a:t>px</a:t>
            </a:r>
            <a:endParaRPr sz="1600" b="0" i="0" dirty="0">
              <a:solidFill>
                <a:srgbClr val="37474F"/>
              </a:solidFill>
              <a:latin typeface="Arial"/>
            </a:endParaRPr>
          </a:p>
        </p:txBody>
      </p:sp>
      <p:pic>
        <p:nvPicPr>
          <p:cNvPr id="26" name="Picture 25" descr="cropcheck_PS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000" y="19944000"/>
            <a:ext cx="9084000" cy="559015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80000" y="25606153"/>
            <a:ext cx="9084000" cy="576000"/>
          </a:xfrm>
          <a:prstGeom prst="rect">
            <a:avLst/>
          </a:prstGeom>
          <a:noFill/>
        </p:spPr>
        <p:txBody>
          <a:bodyPr wrap="square" lIns="108000" tIns="54000" rIns="108000" bIns="540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90A4AE"/>
                </a:solidFill>
                <a:latin typeface="Arial"/>
              </a:rPr>
              <a:t>Annotated ultrasound (cardiac PSAX): expert landmarks per task.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80000" y="26326153"/>
            <a:ext cx="9084000" cy="612000"/>
          </a:xfrm>
          <a:prstGeom prst="roundRect">
            <a:avLst/>
          </a:prstGeom>
          <a:solidFill>
            <a:srgbClr val="0A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24000" y="26308153"/>
            <a:ext cx="8796000" cy="612000"/>
          </a:xfrm>
          <a:prstGeom prst="rect">
            <a:avLst/>
          </a:prstGeom>
          <a:noFill/>
        </p:spPr>
        <p:txBody>
          <a:bodyPr wrap="square" lIns="108000" tIns="54000" rIns="108000" bIns="5400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 dirty="0">
                <a:solidFill>
                  <a:srgbClr val="FFFFFF"/>
                </a:solidFill>
                <a:latin typeface="Arial"/>
              </a:rPr>
              <a:t>3.  Split-Screen Detection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0000" y="27082153"/>
            <a:ext cx="9084000" cy="1512000"/>
          </a:xfrm>
          <a:prstGeom prst="rect">
            <a:avLst/>
          </a:prstGeom>
          <a:noFill/>
        </p:spPr>
        <p:txBody>
          <a:bodyPr wrap="square" lIns="108000" tIns="54000" rIns="108000" bIns="540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 dirty="0">
                <a:solidFill>
                  <a:srgbClr val="37474F"/>
                </a:solidFill>
                <a:latin typeface="Arial"/>
              </a:rPr>
              <a:t>Some cardiac acquisitions are dual-panel. A training-time detector crops the active panel for large gains.</a:t>
            </a:r>
          </a:p>
        </p:txBody>
      </p:sp>
      <p:pic>
        <p:nvPicPr>
          <p:cNvPr id="31" name="Picture 30" descr="ivc_split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000" y="28666153"/>
            <a:ext cx="9084000" cy="349384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80000" y="32232000"/>
            <a:ext cx="9084000" cy="1152000"/>
          </a:xfrm>
          <a:prstGeom prst="rect">
            <a:avLst/>
          </a:prstGeom>
          <a:noFill/>
        </p:spPr>
        <p:txBody>
          <a:bodyPr wrap="square" lIns="108000" tIns="54000" rIns="108000" bIns="540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 i="1" dirty="0">
                <a:solidFill>
                  <a:srgbClr val="90A4AE"/>
                </a:solidFill>
                <a:latin typeface="Arial"/>
              </a:rPr>
              <a:t>Split-screen (red) vs. single-panel kept (green). IVC 40.2 to 2.76, PSAX 27.4 to 1.70 </a:t>
            </a:r>
            <a:r>
              <a:rPr sz="1400" b="0" i="1" dirty="0" err="1">
                <a:solidFill>
                  <a:srgbClr val="90A4AE"/>
                </a:solidFill>
                <a:latin typeface="Arial"/>
              </a:rPr>
              <a:t>px</a:t>
            </a:r>
            <a:r>
              <a:rPr sz="1400" b="0" i="1" dirty="0">
                <a:solidFill>
                  <a:srgbClr val="90A4AE"/>
                </a:solidFill>
                <a:latin typeface="Arial"/>
              </a:rPr>
              <a:t> (about 16x lower).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80000" y="33456000"/>
            <a:ext cx="9084000" cy="612000"/>
          </a:xfrm>
          <a:prstGeom prst="roundRect">
            <a:avLst/>
          </a:prstGeom>
          <a:solidFill>
            <a:srgbClr val="0A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224000" y="33438000"/>
            <a:ext cx="8796000" cy="612000"/>
          </a:xfrm>
          <a:prstGeom prst="rect">
            <a:avLst/>
          </a:prstGeom>
          <a:noFill/>
        </p:spPr>
        <p:txBody>
          <a:bodyPr wrap="square" lIns="108000" tIns="54000" rIns="108000" bIns="5400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 dirty="0">
                <a:solidFill>
                  <a:srgbClr val="FFFFFF"/>
                </a:solidFill>
                <a:latin typeface="Arial"/>
              </a:rPr>
              <a:t>4.  Key Contributions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52000" y="34356000"/>
            <a:ext cx="252000" cy="252000"/>
          </a:xfrm>
          <a:prstGeom prst="roundRect">
            <a:avLst/>
          </a:prstGeom>
          <a:solidFill>
            <a:srgbClr val="D9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584000" y="34212000"/>
            <a:ext cx="8508000" cy="1224000"/>
          </a:xfrm>
          <a:prstGeom prst="rect">
            <a:avLst/>
          </a:prstGeom>
          <a:noFill/>
        </p:spPr>
        <p:txBody>
          <a:bodyPr wrap="square" lIns="108000" tIns="54000" rIns="108000" bIns="540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0" i="0" dirty="0">
                <a:solidFill>
                  <a:srgbClr val="37474F"/>
                </a:solidFill>
                <a:latin typeface="Arial"/>
              </a:rPr>
              <a:t>Unified DINOv3 + LoRA model for all 9 tasks, training only 0.78% of parameters.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52000" y="35580000"/>
            <a:ext cx="252000" cy="252000"/>
          </a:xfrm>
          <a:prstGeom prst="roundRect">
            <a:avLst/>
          </a:prstGeom>
          <a:solidFill>
            <a:srgbClr val="D9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584000" y="35436000"/>
            <a:ext cx="8508000" cy="1224000"/>
          </a:xfrm>
          <a:prstGeom prst="rect">
            <a:avLst/>
          </a:prstGeom>
          <a:noFill/>
        </p:spPr>
        <p:txBody>
          <a:bodyPr wrap="square" lIns="108000" tIns="54000" rIns="108000" bIns="540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0" i="0">
                <a:solidFill>
                  <a:srgbClr val="37474F"/>
                </a:solidFill>
                <a:latin typeface="Arial"/>
              </a:rPr>
              <a:t>Controlled ablation isolating encoder capacity as the binding constraint.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52000" y="36804000"/>
            <a:ext cx="252000" cy="252000"/>
          </a:xfrm>
          <a:prstGeom prst="roundRect">
            <a:avLst/>
          </a:prstGeom>
          <a:solidFill>
            <a:srgbClr val="D9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584000" y="36660000"/>
            <a:ext cx="8508000" cy="1224000"/>
          </a:xfrm>
          <a:prstGeom prst="rect">
            <a:avLst/>
          </a:prstGeom>
          <a:noFill/>
        </p:spPr>
        <p:txBody>
          <a:bodyPr wrap="square" lIns="108000" tIns="54000" rIns="108000" bIns="540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0" i="0">
                <a:solidFill>
                  <a:srgbClr val="37474F"/>
                </a:solidFill>
                <a:latin typeface="Arial"/>
              </a:rPr>
              <a:t>Split-screen detection and acquisition-geometry covariate-shift analysis.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596000" y="11160000"/>
            <a:ext cx="9084000" cy="612000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740000" y="11142000"/>
            <a:ext cx="8796000" cy="612000"/>
          </a:xfrm>
          <a:prstGeom prst="rect">
            <a:avLst/>
          </a:prstGeom>
          <a:noFill/>
        </p:spPr>
        <p:txBody>
          <a:bodyPr wrap="square" lIns="108000" tIns="54000" rIns="108000" bIns="5400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5.  Method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96000" y="11916000"/>
            <a:ext cx="9084000" cy="1512000"/>
          </a:xfrm>
          <a:prstGeom prst="rect">
            <a:avLst/>
          </a:prstGeom>
          <a:noFill/>
        </p:spPr>
        <p:txBody>
          <a:bodyPr wrap="square" lIns="108000" tIns="54000" rIns="108000" bIns="540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37474F"/>
                </a:solidFill>
                <a:latin typeface="Arial"/>
              </a:rPr>
              <a:t>A single frozen DINOv3-Large encoder is shared across all nine tasks and adapted with LoRA. Per-task heatmap heads decode landmark coordinates.</a:t>
            </a:r>
          </a:p>
        </p:txBody>
      </p:sp>
      <p:pic>
        <p:nvPicPr>
          <p:cNvPr id="44" name="Picture 43" descr="arch_r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6000" y="13572000"/>
            <a:ext cx="9084000" cy="4562459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10596000" y="18242459"/>
            <a:ext cx="9084000" cy="172800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CF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704000" y="18242459"/>
            <a:ext cx="8868000" cy="1728000"/>
          </a:xfrm>
          <a:prstGeom prst="rect">
            <a:avLst/>
          </a:prstGeom>
          <a:noFill/>
        </p:spPr>
        <p:txBody>
          <a:bodyPr wrap="square" lIns="108000" tIns="54000" rIns="108000" bIns="540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0A3D62"/>
                </a:solidFill>
                <a:latin typeface="Arial"/>
              </a:rPr>
              <a:t>Only LoRA adapters (2.39M of 305M = 0.78%) and per-task heads are trained; backbone frozen. </a:t>
            </a:r>
            <a:r>
              <a:rPr sz="1700" b="0" i="0">
                <a:solidFill>
                  <a:srgbClr val="37474F"/>
                </a:solidFill>
                <a:latin typeface="Arial"/>
              </a:rPr>
              <a:t>Loss: MSE on Gaussian landmark heatmaps.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596000" y="20186459"/>
            <a:ext cx="9084000" cy="1296000"/>
          </a:xfrm>
          <a:prstGeom prst="roundRect">
            <a:avLst/>
          </a:prstGeom>
          <a:solidFill>
            <a:srgbClr val="E3F2F6"/>
          </a:solidFill>
          <a:ln w="1524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704000" y="20186459"/>
            <a:ext cx="8868000" cy="1296000"/>
          </a:xfrm>
          <a:prstGeom prst="rect">
            <a:avLst/>
          </a:prstGeom>
          <a:noFill/>
        </p:spPr>
        <p:txBody>
          <a:bodyPr wrap="square" lIns="108000" tIns="54000" rIns="108000" bIns="540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0A3D62"/>
                </a:solidFill>
                <a:latin typeface="Arial"/>
              </a:rPr>
              <a:t>Controlled ablation:  </a:t>
            </a:r>
            <a:r>
              <a:rPr sz="1700" b="0" i="0">
                <a:solidFill>
                  <a:srgbClr val="37474F"/>
                </a:solidFill>
                <a:latin typeface="Arial"/>
              </a:rPr>
              <a:t>vary one factor at a time (encoder, loss, resolution), architecture fixed.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596000" y="21770459"/>
            <a:ext cx="9084000" cy="612000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740000" y="21752459"/>
            <a:ext cx="8796000" cy="612000"/>
          </a:xfrm>
          <a:prstGeom prst="rect">
            <a:avLst/>
          </a:prstGeom>
          <a:noFill/>
        </p:spPr>
        <p:txBody>
          <a:bodyPr wrap="square" lIns="108000" tIns="54000" rIns="108000" bIns="5400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6.  Training Convergence (Fig. 1)</a:t>
            </a:r>
          </a:p>
        </p:txBody>
      </p:sp>
      <p:pic>
        <p:nvPicPr>
          <p:cNvPr id="51" name="Picture 50" descr="fig2_convergenc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6000" y="22526459"/>
            <a:ext cx="9084000" cy="52990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0596000" y="27897459"/>
            <a:ext cx="9084000" cy="1080000"/>
          </a:xfrm>
          <a:prstGeom prst="rect">
            <a:avLst/>
          </a:prstGeom>
          <a:noFill/>
        </p:spPr>
        <p:txBody>
          <a:bodyPr wrap="square" lIns="108000" tIns="54000" rIns="108000" bIns="540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 i="1" dirty="0">
                <a:solidFill>
                  <a:srgbClr val="90A4AE"/>
                </a:solidFill>
                <a:latin typeface="Arial"/>
              </a:rPr>
              <a:t>DINOv3-L + LoRA (blue) falls well below the DINOv2-S baseline (dashed); best 8.61 </a:t>
            </a:r>
            <a:r>
              <a:rPr sz="1400" b="0" i="1" dirty="0" err="1">
                <a:solidFill>
                  <a:srgbClr val="90A4AE"/>
                </a:solidFill>
                <a:latin typeface="Arial"/>
              </a:rPr>
              <a:t>px</a:t>
            </a:r>
            <a:r>
              <a:rPr sz="1400" b="0" i="1" dirty="0">
                <a:solidFill>
                  <a:srgbClr val="90A4AE"/>
                </a:solidFill>
                <a:latin typeface="Arial"/>
              </a:rPr>
              <a:t> at epoch 144.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596000" y="28658459"/>
            <a:ext cx="9084000" cy="612000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740000" y="28663619"/>
            <a:ext cx="8796000" cy="612000"/>
          </a:xfrm>
          <a:prstGeom prst="rect">
            <a:avLst/>
          </a:prstGeom>
          <a:noFill/>
        </p:spPr>
        <p:txBody>
          <a:bodyPr wrap="square" lIns="108000" tIns="54000" rIns="108000" bIns="5400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 dirty="0">
                <a:solidFill>
                  <a:srgbClr val="FFFFFF"/>
                </a:solidFill>
                <a:latin typeface="Arial"/>
              </a:rPr>
              <a:t>7.  Qualitative: Predictions</a:t>
            </a:r>
          </a:p>
        </p:txBody>
      </p:sp>
      <p:pic>
        <p:nvPicPr>
          <p:cNvPr id="55" name="Picture 54" descr="pred_overla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96000" y="29460763"/>
            <a:ext cx="9084000" cy="8276533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0596000" y="38225992"/>
            <a:ext cx="9084000" cy="720000"/>
          </a:xfrm>
          <a:prstGeom prst="rect">
            <a:avLst/>
          </a:prstGeom>
          <a:noFill/>
        </p:spPr>
        <p:txBody>
          <a:bodyPr wrap="square" lIns="108000" tIns="54000" rIns="108000" bIns="540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90A4AE"/>
                </a:solidFill>
                <a:latin typeface="Arial"/>
              </a:rPr>
              <a:t>Model landmark predictions on held-out validation ultrasound (cardiac, vascular, fetal).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0112000" y="11160000"/>
            <a:ext cx="9084000" cy="612000"/>
          </a:xfrm>
          <a:prstGeom prst="roundRect">
            <a:avLst/>
          </a:prstGeom>
          <a:solidFill>
            <a:srgbClr val="00AC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0256000" y="11142000"/>
            <a:ext cx="8796000" cy="612000"/>
          </a:xfrm>
          <a:prstGeom prst="rect">
            <a:avLst/>
          </a:prstGeom>
          <a:noFill/>
        </p:spPr>
        <p:txBody>
          <a:bodyPr wrap="square" lIns="108000" tIns="54000" rIns="108000" bIns="5400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8.  Main Results</a:t>
            </a:r>
          </a:p>
        </p:txBody>
      </p:sp>
      <p:pic>
        <p:nvPicPr>
          <p:cNvPr id="59" name="Picture 58" descr="n_result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112000" y="11916000"/>
            <a:ext cx="9084000" cy="5148086"/>
          </a:xfrm>
          <a:prstGeom prst="rect">
            <a:avLst/>
          </a:prstGeom>
        </p:spPr>
      </p:pic>
      <p:sp>
        <p:nvSpPr>
          <p:cNvPr id="60" name="Rounded Rectangle 59"/>
          <p:cNvSpPr/>
          <p:nvPr/>
        </p:nvSpPr>
        <p:spPr>
          <a:xfrm>
            <a:off x="20112000" y="17136086"/>
            <a:ext cx="9084000" cy="1224000"/>
          </a:xfrm>
          <a:prstGeom prst="roundRect">
            <a:avLst/>
          </a:prstGeom>
          <a:solidFill>
            <a:srgbClr val="D9ECE1"/>
          </a:solidFill>
          <a:ln w="1905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0220000" y="17136086"/>
            <a:ext cx="8868000" cy="1224000"/>
          </a:xfrm>
          <a:prstGeom prst="rect">
            <a:avLst/>
          </a:prstGeom>
          <a:noFill/>
        </p:spPr>
        <p:txBody>
          <a:bodyPr wrap="square" lIns="108000" tIns="54000" rIns="108000" bIns="540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2E7D5B"/>
                </a:solidFill>
                <a:latin typeface="Arial"/>
              </a:rPr>
              <a:t>Best:  </a:t>
            </a:r>
            <a:r>
              <a:rPr sz="1700" b="0" i="0">
                <a:solidFill>
                  <a:srgbClr val="37474F"/>
                </a:solidFill>
                <a:latin typeface="Arial"/>
              </a:rPr>
              <a:t>encoder swap alone cuts avg MRE 11.01 to 8.61 px (22% lower), HC 30.5 to 19.1.</a:t>
            </a:r>
          </a:p>
        </p:txBody>
      </p:sp>
      <p:pic>
        <p:nvPicPr>
          <p:cNvPr id="62" name="Picture 61" descr="metrics_tabl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112000" y="18576086"/>
            <a:ext cx="9084000" cy="1872244"/>
          </a:xfrm>
          <a:prstGeom prst="rect">
            <a:avLst/>
          </a:prstGeom>
        </p:spPr>
      </p:pic>
      <p:pic>
        <p:nvPicPr>
          <p:cNvPr id="63" name="Picture 62" descr="full_tabl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112000" y="20556330"/>
            <a:ext cx="9084000" cy="2653889"/>
          </a:xfrm>
          <a:prstGeom prst="rect">
            <a:avLst/>
          </a:prstGeom>
        </p:spPr>
      </p:pic>
      <p:pic>
        <p:nvPicPr>
          <p:cNvPr id="64" name="Picture 63" descr="n_pertas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112000" y="23318220"/>
            <a:ext cx="9084000" cy="416228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20112000" y="27552503"/>
            <a:ext cx="9084000" cy="576000"/>
          </a:xfrm>
          <a:prstGeom prst="rect">
            <a:avLst/>
          </a:prstGeom>
          <a:noFill/>
        </p:spPr>
        <p:txBody>
          <a:bodyPr wrap="square" lIns="108000" tIns="54000" rIns="108000" bIns="540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 dirty="0">
                <a:solidFill>
                  <a:srgbClr val="90A4AE"/>
                </a:solidFill>
                <a:latin typeface="Arial"/>
              </a:rPr>
              <a:t>Per-task MRE: gains concentrate on the hardest tasks (HC, fetal femur).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0112000" y="28272503"/>
            <a:ext cx="9084000" cy="612000"/>
          </a:xfrm>
          <a:prstGeom prst="roundRect">
            <a:avLst/>
          </a:prstGeom>
          <a:solidFill>
            <a:srgbClr val="00AC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0256000" y="28254503"/>
            <a:ext cx="8796000" cy="612000"/>
          </a:xfrm>
          <a:prstGeom prst="rect">
            <a:avLst/>
          </a:prstGeom>
          <a:noFill/>
        </p:spPr>
        <p:txBody>
          <a:bodyPr wrap="square" lIns="108000" tIns="54000" rIns="108000" bIns="5400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9.  Robustness: Geometry Shift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112000" y="29028503"/>
            <a:ext cx="9084000" cy="1152000"/>
          </a:xfrm>
          <a:prstGeom prst="rect">
            <a:avLst/>
          </a:prstGeom>
          <a:noFill/>
        </p:spPr>
        <p:txBody>
          <a:bodyPr wrap="square" lIns="108000" tIns="54000" rIns="108000" bIns="540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0" i="0" dirty="0">
                <a:solidFill>
                  <a:srgbClr val="37474F"/>
                </a:solidFill>
                <a:latin typeface="Arial"/>
              </a:rPr>
              <a:t>Local 8.61 px vs. server 25.60 px. A distortion test isolates the cause: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0112000" y="30324503"/>
            <a:ext cx="9084000" cy="936000"/>
          </a:xfrm>
          <a:prstGeom prst="roundRect">
            <a:avLst/>
          </a:prstGeom>
          <a:solidFill>
            <a:srgbClr val="F4F8FA"/>
          </a:solidFill>
          <a:ln w="1524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0220000" y="30324503"/>
            <a:ext cx="5988000" cy="936000"/>
          </a:xfrm>
          <a:prstGeom prst="rect">
            <a:avLst/>
          </a:prstGeom>
          <a:noFill/>
        </p:spPr>
        <p:txBody>
          <a:bodyPr wrap="square" lIns="108000" tIns="54000" rIns="108000" bIns="5400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 dirty="0">
                <a:solidFill>
                  <a:srgbClr val="37474F"/>
                </a:solidFill>
                <a:latin typeface="Arial"/>
              </a:rPr>
              <a:t>Native aspect 1.48 (training)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172000" y="30324503"/>
            <a:ext cx="2808000" cy="936000"/>
          </a:xfrm>
          <a:prstGeom prst="rect">
            <a:avLst/>
          </a:prstGeom>
          <a:noFill/>
        </p:spPr>
        <p:txBody>
          <a:bodyPr wrap="square" lIns="108000" tIns="54000" rIns="108000" bIns="5400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2E7D5B"/>
                </a:solidFill>
                <a:latin typeface="Arial"/>
              </a:rPr>
              <a:t>10.5 px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0112000" y="31368503"/>
            <a:ext cx="9084000" cy="936000"/>
          </a:xfrm>
          <a:prstGeom prst="roundRect">
            <a:avLst/>
          </a:prstGeom>
          <a:solidFill>
            <a:srgbClr val="F4F8FA"/>
          </a:solidFill>
          <a:ln w="1524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0220000" y="31368503"/>
            <a:ext cx="5988000" cy="936000"/>
          </a:xfrm>
          <a:prstGeom prst="rect">
            <a:avLst/>
          </a:prstGeom>
          <a:noFill/>
        </p:spPr>
        <p:txBody>
          <a:bodyPr wrap="square" lIns="108000" tIns="54000" rIns="108000" bIns="5400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 dirty="0">
                <a:solidFill>
                  <a:srgbClr val="37474F"/>
                </a:solidFill>
                <a:latin typeface="Arial"/>
              </a:rPr>
              <a:t>Stretched to 1.90 (server-like)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6172000" y="31368503"/>
            <a:ext cx="2808000" cy="936000"/>
          </a:xfrm>
          <a:prstGeom prst="rect">
            <a:avLst/>
          </a:prstGeom>
          <a:noFill/>
        </p:spPr>
        <p:txBody>
          <a:bodyPr wrap="square" lIns="108000" tIns="54000" rIns="108000" bIns="5400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C62828"/>
                </a:solidFill>
                <a:latin typeface="Arial"/>
              </a:rPr>
              <a:t>35.1 px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112000" y="32412503"/>
            <a:ext cx="9084000" cy="648000"/>
          </a:xfrm>
          <a:prstGeom prst="rect">
            <a:avLst/>
          </a:prstGeom>
          <a:noFill/>
        </p:spPr>
        <p:txBody>
          <a:bodyPr wrap="square" lIns="108000" tIns="54000" rIns="108000" bIns="540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00ACC1"/>
                </a:solidFill>
                <a:latin typeface="Arial"/>
              </a:rPr>
              <a:t>Aspect-ratio change alone triples the error.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0112000" y="33204503"/>
            <a:ext cx="9084000" cy="612000"/>
          </a:xfrm>
          <a:prstGeom prst="roundRect">
            <a:avLst/>
          </a:prstGeom>
          <a:solidFill>
            <a:srgbClr val="00AC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0256000" y="33186503"/>
            <a:ext cx="8796000" cy="612000"/>
          </a:xfrm>
          <a:prstGeom prst="rect">
            <a:avLst/>
          </a:prstGeom>
          <a:noFill/>
        </p:spPr>
        <p:txBody>
          <a:bodyPr wrap="square" lIns="108000" tIns="54000" rIns="108000" bIns="5400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10.  Conclusion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0112000" y="33960503"/>
            <a:ext cx="9084000" cy="3695496"/>
          </a:xfrm>
          <a:prstGeom prst="roundRect">
            <a:avLst/>
          </a:prstGeom>
          <a:solidFill>
            <a:srgbClr val="0A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0256000" y="34830394"/>
            <a:ext cx="8796000" cy="1955714"/>
          </a:xfrm>
          <a:prstGeom prst="rect">
            <a:avLst/>
          </a:prstGeom>
          <a:noFill/>
        </p:spPr>
        <p:txBody>
          <a:bodyPr wrap="square" lIns="108000" tIns="54000" rIns="108000" bIns="540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 dirty="0">
                <a:solidFill>
                  <a:srgbClr val="FFFFFF"/>
                </a:solidFill>
                <a:latin typeface="Arial"/>
              </a:rPr>
              <a:t>A single LoRA-adapted DINOv3 encoder addresses all nine ultrasound biometry tasks. A controlled ablation shows encoder capacity is the binding constraint (avg MRE 11.01 to 8.61); negative results rule out loss and resolution engineering. The residual local-to-server gap is acquisition-geometry covariate shift, the key direction for deployable multi-task ultrasound biometry.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080000" y="37872000"/>
            <a:ext cx="9084000" cy="288000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CF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1080000" y="37872000"/>
            <a:ext cx="9084000" cy="576000"/>
          </a:xfrm>
          <a:prstGeom prst="roundRect">
            <a:avLst/>
          </a:prstGeom>
          <a:solidFill>
            <a:srgbClr val="0A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224000" y="37854000"/>
            <a:ext cx="8796000" cy="576000"/>
          </a:xfrm>
          <a:prstGeom prst="rect">
            <a:avLst/>
          </a:prstGeom>
          <a:noFill/>
        </p:spPr>
        <p:txBody>
          <a:bodyPr wrap="square" lIns="108000" tIns="54000" rIns="108000" bIns="5400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References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60000" y="38556000"/>
            <a:ext cx="8724000" cy="540000"/>
          </a:xfrm>
          <a:prstGeom prst="rect">
            <a:avLst/>
          </a:prstGeom>
          <a:noFill/>
        </p:spPr>
        <p:txBody>
          <a:bodyPr wrap="square" lIns="108000" tIns="54000" rIns="108000" bIns="540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7474F"/>
                </a:solidFill>
                <a:latin typeface="Arial"/>
              </a:rPr>
              <a:t>[1] Oquab et al. DINOv2 / DINOv3: self-supervised vision features. 2024.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60000" y="39096000"/>
            <a:ext cx="8724000" cy="540000"/>
          </a:xfrm>
          <a:prstGeom prst="rect">
            <a:avLst/>
          </a:prstGeom>
          <a:noFill/>
        </p:spPr>
        <p:txBody>
          <a:bodyPr wrap="square" lIns="108000" tIns="54000" rIns="108000" bIns="540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7474F"/>
                </a:solidFill>
                <a:latin typeface="Arial"/>
              </a:rPr>
              <a:t>[2] Hu et al. LoRA: Low-Rank Adaptation of Large Language Models. ICLR 2022.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60000" y="39636000"/>
            <a:ext cx="8724000" cy="540000"/>
          </a:xfrm>
          <a:prstGeom prst="rect">
            <a:avLst/>
          </a:prstGeom>
          <a:noFill/>
        </p:spPr>
        <p:txBody>
          <a:bodyPr wrap="square" lIns="108000" tIns="54000" rIns="108000" bIns="540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7474F"/>
                </a:solidFill>
                <a:latin typeface="Arial"/>
              </a:rPr>
              <a:t>[3] FoundUS 2026: Foundation Model for Ultrasound Biometry, MICCAI 2026.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260000" y="40176000"/>
            <a:ext cx="8724000" cy="540000"/>
          </a:xfrm>
          <a:prstGeom prst="rect">
            <a:avLst/>
          </a:prstGeom>
          <a:noFill/>
        </p:spPr>
        <p:txBody>
          <a:bodyPr wrap="square" lIns="108000" tIns="54000" rIns="108000" bIns="540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7474F"/>
                </a:solidFill>
                <a:latin typeface="Arial"/>
              </a:rPr>
              <a:t>[4] Deng et al. Baseline Method for the Foundation Model Challenge. 2026.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0596000" y="37872000"/>
            <a:ext cx="9084000" cy="288000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CF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10596000" y="37872000"/>
            <a:ext cx="9084000" cy="576000"/>
          </a:xfrm>
          <a:prstGeom prst="roundRect">
            <a:avLst/>
          </a:prstGeom>
          <a:solidFill>
            <a:srgbClr val="37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0740000" y="37854000"/>
            <a:ext cx="8796000" cy="576000"/>
          </a:xfrm>
          <a:prstGeom prst="rect">
            <a:avLst/>
          </a:prstGeom>
          <a:noFill/>
        </p:spPr>
        <p:txBody>
          <a:bodyPr wrap="square" lIns="108000" tIns="54000" rIns="108000" bIns="5400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Limitations &amp; Future Work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776000" y="38556000"/>
            <a:ext cx="8724000" cy="540000"/>
          </a:xfrm>
          <a:prstGeom prst="rect">
            <a:avLst/>
          </a:prstGeom>
          <a:noFill/>
        </p:spPr>
        <p:txBody>
          <a:bodyPr wrap="square" lIns="108000" tIns="54000" rIns="108000" bIns="540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62828"/>
                </a:solidFill>
                <a:latin typeface="Arial"/>
              </a:rPr>
              <a:t>• </a:t>
            </a:r>
            <a:r>
              <a:rPr sz="1300" b="0" i="0">
                <a:solidFill>
                  <a:srgbClr val="37474F"/>
                </a:solidFill>
                <a:latin typeface="Arial"/>
              </a:rPr>
              <a:t>Test geometries outside training range not covered.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776000" y="39096000"/>
            <a:ext cx="8724000" cy="540000"/>
          </a:xfrm>
          <a:prstGeom prst="rect">
            <a:avLst/>
          </a:prstGeom>
          <a:noFill/>
        </p:spPr>
        <p:txBody>
          <a:bodyPr wrap="square" lIns="108000" tIns="54000" rIns="108000" bIns="540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62828"/>
                </a:solidFill>
                <a:latin typeface="Arial"/>
              </a:rPr>
              <a:t>• </a:t>
            </a:r>
            <a:r>
              <a:rPr sz="1300" b="0" i="0">
                <a:solidFill>
                  <a:srgbClr val="37474F"/>
                </a:solidFill>
                <a:latin typeface="Arial"/>
              </a:rPr>
              <a:t>Single-model inference; no ensemble or TTA.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776000" y="39636000"/>
            <a:ext cx="8724000" cy="540000"/>
          </a:xfrm>
          <a:prstGeom prst="rect">
            <a:avLst/>
          </a:prstGeom>
          <a:noFill/>
        </p:spPr>
        <p:txBody>
          <a:bodyPr wrap="square" lIns="108000" tIns="54000" rIns="108000" bIns="540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E7D5B"/>
                </a:solidFill>
                <a:latin typeface="Arial"/>
              </a:rPr>
              <a:t>• </a:t>
            </a:r>
            <a:r>
              <a:rPr sz="1300" b="0" i="0">
                <a:solidFill>
                  <a:srgbClr val="37474F"/>
                </a:solidFill>
                <a:latin typeface="Arial"/>
              </a:rPr>
              <a:t>Future: geometry-aware augmentation.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776000" y="40176000"/>
            <a:ext cx="8724000" cy="540000"/>
          </a:xfrm>
          <a:prstGeom prst="rect">
            <a:avLst/>
          </a:prstGeom>
          <a:noFill/>
        </p:spPr>
        <p:txBody>
          <a:bodyPr wrap="square" lIns="108000" tIns="54000" rIns="108000" bIns="540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E7D5B"/>
                </a:solidFill>
                <a:latin typeface="Arial"/>
              </a:rPr>
              <a:t>• </a:t>
            </a:r>
            <a:r>
              <a:rPr sz="1300" b="0" i="0">
                <a:solidFill>
                  <a:srgbClr val="37474F"/>
                </a:solidFill>
                <a:latin typeface="Arial"/>
              </a:rPr>
              <a:t>Future: multi-centre training data.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0112000" y="37872000"/>
            <a:ext cx="9084000" cy="2880000"/>
          </a:xfrm>
          <a:prstGeom prst="roundRect">
            <a:avLst/>
          </a:prstGeom>
          <a:solidFill>
            <a:srgbClr val="0A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20112000" y="37872000"/>
            <a:ext cx="9084000" cy="576000"/>
          </a:xfrm>
          <a:prstGeom prst="roundRect">
            <a:avLst/>
          </a:prstGeom>
          <a:solidFill>
            <a:srgbClr val="00AC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20256000" y="37854000"/>
            <a:ext cx="8796000" cy="576000"/>
          </a:xfrm>
          <a:prstGeom prst="rect">
            <a:avLst/>
          </a:prstGeom>
          <a:noFill/>
        </p:spPr>
        <p:txBody>
          <a:bodyPr wrap="square" lIns="108000" tIns="54000" rIns="108000" bIns="5400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Code &amp; Contact</a:t>
            </a:r>
          </a:p>
        </p:txBody>
      </p:sp>
      <p:pic>
        <p:nvPicPr>
          <p:cNvPr id="97" name="Picture 96" descr="github_qr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328000" y="38664000"/>
            <a:ext cx="1872000" cy="1872000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22344000" y="38664000"/>
            <a:ext cx="6708000" cy="1465836"/>
          </a:xfrm>
          <a:prstGeom prst="rect">
            <a:avLst/>
          </a:prstGeom>
          <a:noFill/>
        </p:spPr>
        <p:txBody>
          <a:bodyPr wrap="square" lIns="108000" tIns="54000" rIns="108000" bIns="540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 dirty="0">
                <a:solidFill>
                  <a:srgbClr val="FFFFFF"/>
                </a:solidFill>
                <a:latin typeface="Arial"/>
              </a:rPr>
              <a:t>Saeed Moosivand</a:t>
            </a:r>
          </a:p>
          <a:p>
            <a:pPr algn="l">
              <a:spcAft>
                <a:spcPts val="100"/>
              </a:spcAft>
            </a:pPr>
            <a:r>
              <a:rPr sz="1300" b="0" i="0" dirty="0">
                <a:solidFill>
                  <a:srgbClr val="B8CEDD"/>
                </a:solidFill>
                <a:latin typeface="Arial"/>
              </a:rPr>
              <a:t>240169451@aston.ac.uk</a:t>
            </a:r>
          </a:p>
          <a:p>
            <a:pPr algn="l">
              <a:spcAft>
                <a:spcPts val="100"/>
              </a:spcAft>
            </a:pPr>
            <a:r>
              <a:rPr sz="1500" b="1" i="0" dirty="0">
                <a:solidFill>
                  <a:srgbClr val="FFFFFF"/>
                </a:solidFill>
                <a:latin typeface="Arial"/>
              </a:rPr>
              <a:t>Ziyang Wang</a:t>
            </a:r>
          </a:p>
          <a:p>
            <a:pPr algn="l">
              <a:spcAft>
                <a:spcPts val="100"/>
              </a:spcAft>
            </a:pPr>
            <a:r>
              <a:rPr sz="1300" b="0" i="0" dirty="0">
                <a:solidFill>
                  <a:srgbClr val="B8CEDD"/>
                </a:solidFill>
                <a:latin typeface="Arial"/>
              </a:rPr>
              <a:t>z.wang47@aston.ac.uk</a:t>
            </a:r>
            <a:endParaRPr lang="en-GB" sz="1300" b="0" i="0" dirty="0">
              <a:solidFill>
                <a:srgbClr val="B8CEDD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lang="en-GB" sz="1500" i="1" dirty="0">
                <a:solidFill>
                  <a:srgbClr val="00ACC1"/>
                </a:solidFill>
                <a:latin typeface="Arial"/>
              </a:rPr>
              <a:t>← scan for code</a:t>
            </a:r>
          </a:p>
          <a:p>
            <a:pPr algn="l">
              <a:spcAft>
                <a:spcPts val="100"/>
              </a:spcAft>
            </a:pPr>
            <a:endParaRPr sz="1300" b="0" i="0" dirty="0">
              <a:solidFill>
                <a:srgbClr val="B8CEDD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58077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628</Words>
  <Application>Microsoft Office PowerPoint</Application>
  <PresentationFormat>Custom</PresentationFormat>
  <Paragraphs>58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Mert Seven - Dekon Congress &amp; Tourism</dc:creator>
  <cp:lastModifiedBy>Saeed Moosivand (Student)</cp:lastModifiedBy>
  <cp:revision>3</cp:revision>
  <dcterms:created xsi:type="dcterms:W3CDTF">2026-07-27T09:56:02Z</dcterms:created>
  <dcterms:modified xsi:type="dcterms:W3CDTF">2026-09-22T21:53:10Z</dcterms:modified>
</cp:coreProperties>
</file>